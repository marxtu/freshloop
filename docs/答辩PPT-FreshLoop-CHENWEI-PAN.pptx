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2" r:id="rId23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FreshLoop 智能跑步路线生成器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D9F2E8"/>
                </a:solidFill>
                <a:latin typeface="Segoe UI"/>
                <a:ea typeface="微软雅黑"/>
                <a:cs typeface="微软雅黑"/>
              </a:rPr>
              <a:t>Smart Running-Route Generator — designs a run on air, hills &amp; scenery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BFE8D8"/>
                </a:solidFill>
                <a:latin typeface="Segoe UI"/>
                <a:ea typeface="微软雅黑"/>
                <a:cs typeface="微软雅黑"/>
              </a:rPr>
              <a:t>答辩人    </a:t>
            </a:r>
            <a:r>
              <a:rPr sz="1500" b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CHENWEI PAN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FE8D8"/>
                </a:solidFill>
                <a:latin typeface="Segoe UI"/>
                <a:ea typeface="微软雅黑"/>
                <a:cs typeface="微软雅黑"/>
              </a:rPr>
              <a:t>课程    </a:t>
            </a:r>
            <a:r>
              <a:rPr sz="1500" b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Design and Implementation of Mobile Applications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FE8D8"/>
                </a:solidFill>
                <a:latin typeface="Segoe UI"/>
                <a:ea typeface="微软雅黑"/>
                <a:cs typeface="微软雅黑"/>
              </a:rPr>
              <a:t>指导教师    </a:t>
            </a:r>
            <a:r>
              <a:rPr sz="1500" b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Prof. Luciano Baresi  ·  Politecnico di Milano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FE8D8"/>
                </a:solidFill>
                <a:latin typeface="Segoe UI"/>
                <a:ea typeface="微软雅黑"/>
                <a:cs typeface="微软雅黑"/>
              </a:rPr>
              <a:t>日期    </a:t>
            </a:r>
            <a:r>
              <a:rPr sz="1500" b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汇 报 提 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1.  研究背景与意义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2.  研究内容与目标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3.  系统总体架构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4.  核心功能模块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5.  关键技术（评分 / 数据 / 鉴权 / 架构）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6.  系统测试与验证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7.  系统实测截图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8.  成果、不足与未来工作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1. 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跑者选路线通常只看距离，忽视了空气质量、坡度与沿途风景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城市不同街区空气质量差异显著，长期暴露影响健康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坡度是偏好而非越平越好：新手想要平路，训练者想要爬升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现有 App 多为"追踪器"——记录你已经跑过的路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缺少"为你设计一条值得跑的路"的能力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FreshLoop 的定位：设计一次跑步，而非追踪一次跑步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以环境质量评分的路线生成为核心创新，规避"复刻已有 App"的红线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2. 研究内容与目标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输入：起点 + 目标距离 + 三项偏好权重（空气 / 坡度 / 风景）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输出：生成并排名多条返回起点的环线路线，每条带可解释评分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完整闭环：设计 → 比较 → 详情 → 实时追踪 → 跑后总结 → 账户云同步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增量交付六个里程碑 M1–M6，每个里程碑：设计文档 → TDD → 双人评审 → PR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M1 评分引擎 · M2 数据层 · M3 生成与地图 UI · M4 实时追踪 · M5 账户与云 · M6 多设备与打磨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3. 系统总体架构：五层分层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966960" cy="841248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features  表现层    </a:t>
            </a:r>
            <a:r>
              <a:rPr sz="1300" b="0">
                <a:solidFill>
                  <a:srgbClr val="EAF7F2"/>
                </a:solidFill>
                <a:latin typeface="Segoe UI"/>
                <a:ea typeface="微软雅黑"/>
                <a:cs typeface="微软雅黑"/>
              </a:rPr>
              <a:t>UI 屏幕与组件（首页 / 候选 / 详情 / 追踪 / 账户）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05456"/>
            <a:ext cx="9966960" cy="841248"/>
          </a:xfrm>
          <a:prstGeom prst="roundRect">
            <a:avLst/>
          </a:prstGeom>
          <a:solidFill>
            <a:srgbClr val="12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state  状态层    </a:t>
            </a:r>
            <a:r>
              <a:rPr sz="1300" b="0">
                <a:solidFill>
                  <a:srgbClr val="EAF7F2"/>
                </a:solidFill>
                <a:latin typeface="Segoe UI"/>
                <a:ea typeface="微软雅黑"/>
                <a:cs typeface="微软雅黑"/>
              </a:rPr>
              <a:t>flutter_bloc Cubit（RouteGen / RunTracking / Auth / Favorites）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56432"/>
            <a:ext cx="9966960" cy="8412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services  服务层    </a:t>
            </a:r>
            <a:r>
              <a:rPr sz="1300" b="0">
                <a:solidFill>
                  <a:srgbClr val="EAF7F2"/>
                </a:solidFill>
                <a:latin typeface="Segoe UI"/>
                <a:ea typeface="微软雅黑"/>
                <a:cs typeface="微软雅黑"/>
              </a:rPr>
              <a:t>编排 + 仓库接口（RouteGenerator / *Repository / AuthRepository）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407408"/>
            <a:ext cx="9966960" cy="841248"/>
          </a:xfrm>
          <a:prstGeom prst="roundRect">
            <a:avLst/>
          </a:prstGeom>
          <a:solidFill>
            <a:srgbClr val="3D8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data  数据层    </a:t>
            </a:r>
            <a:r>
              <a:rPr sz="1300" b="0">
                <a:solidFill>
                  <a:srgbClr val="EAF7F2"/>
                </a:solidFill>
                <a:latin typeface="Segoe UI"/>
                <a:ea typeface="微软雅黑"/>
                <a:cs typeface="微软雅黑"/>
              </a:rPr>
              <a:t>外部 API 客户端（可注入 http.Client，全 mock 测试）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358384"/>
            <a:ext cx="9966960" cy="841248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domain  领域层    </a:t>
            </a:r>
            <a:r>
              <a:rPr sz="1300" b="0">
                <a:solidFill>
                  <a:srgbClr val="EAF7F2"/>
                </a:solidFill>
                <a:latin typeface="Segoe UI"/>
                <a:ea typeface="微软雅黑"/>
                <a:cs typeface="微软雅黑"/>
              </a:rPr>
              <a:t>纯 Dart 模型与评分（无 Flutter 依赖，可独立单测）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9788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技术栈：Flutter · Dart · flutter_bloc · flutter_map (OSM) · go_router · Firebase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4. 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029200" cy="1325880"/>
          </a:xfrm>
          <a:prstGeom prst="roundRect">
            <a:avLst/>
          </a:prstGeom>
          <a:solidFill>
            <a:srgbClr val="F6F8F7"/>
          </a:solidFill>
          <a:ln>
            <a:solidFill>
              <a:srgbClr val="DD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7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① 设计跑步</a:t>
            </a:r>
          </a:p>
          <a:p>
            <a:r>
              <a:rPr sz="13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距离 + 三项权重滑杆 + 地形，一键生成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1325880"/>
          </a:xfrm>
          <a:prstGeom prst="roundRect">
            <a:avLst/>
          </a:prstGeom>
          <a:solidFill>
            <a:srgbClr val="F6F8F7"/>
          </a:solidFill>
          <a:ln>
            <a:solidFill>
              <a:srgbClr val="DD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7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② 候选比较</a:t>
            </a:r>
          </a:p>
          <a:p>
            <a:r>
              <a:rPr sz="13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排名卡片：评分仪表盘 + 三轴徽章 + 地图预览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5029200" cy="1325880"/>
          </a:xfrm>
          <a:prstGeom prst="roundRect">
            <a:avLst/>
          </a:prstGeom>
          <a:solidFill>
            <a:srgbClr val="F6F8F7"/>
          </a:solidFill>
          <a:ln>
            <a:solidFill>
              <a:srgbClr val="DD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7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③ 路线详情</a:t>
            </a:r>
          </a:p>
          <a:p>
            <a:r>
              <a:rPr sz="13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地图环线 + 海拔剖面 + 沿途照片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029200" cy="1325880"/>
          </a:xfrm>
          <a:prstGeom prst="roundRect">
            <a:avLst/>
          </a:prstGeom>
          <a:solidFill>
            <a:srgbClr val="F6F8F7"/>
          </a:solidFill>
          <a:ln>
            <a:solidFill>
              <a:srgbClr val="DD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7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④ 实时追踪</a:t>
            </a:r>
          </a:p>
          <a:p>
            <a:r>
              <a:rPr sz="13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地图跟随 + 实时距离 / 时间 / 配速 + 当前位置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5029200" cy="1325880"/>
          </a:xfrm>
          <a:prstGeom prst="roundRect">
            <a:avLst/>
          </a:prstGeom>
          <a:solidFill>
            <a:srgbClr val="F6F8F7"/>
          </a:solidFill>
          <a:ln>
            <a:solidFill>
              <a:srgbClr val="DD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7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⑤ 历史与收藏</a:t>
            </a:r>
          </a:p>
          <a:p>
            <a:r>
              <a:rPr sz="13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保存跑步记录与喜欢的路线，云端同步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029200" cy="1325880"/>
          </a:xfrm>
          <a:prstGeom prst="roundRect">
            <a:avLst/>
          </a:prstGeom>
          <a:solidFill>
            <a:srgbClr val="F6F8F7"/>
          </a:solidFill>
          <a:ln>
            <a:solidFill>
              <a:srgbClr val="DD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17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⑥ 账户</a:t>
            </a:r>
          </a:p>
          <a:p>
            <a:r>
              <a:rPr sz="13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邮箱 / 密码登录，按用户隔离数据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5. 关键技术（2）：三轴可解释评分模型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每条候选路线在三个轴上打 0–100 分，再按用户权重加权合成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空气 Air：沿线采样 AQI 越低，得分越高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坡度 Hills：实际爬升与"目标爬升"的接近度——偏好匹配，而非越平越好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风景 Scenery：路线走廊内绿地 / 水域覆盖 + 经过的风景路点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每个轴映射到三级徽章（good / ok / poor）并给出一句话解释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借鉴 WHO 三级评估思路——评分透明可解释，而非黑箱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优雅降级：某数据源不可用时该轴降级，而不让整次生成失败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5. 关键技术（3）：多源外部数据 + 可测试性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路由 OpenRouteService · 地理编码 Nominatim · 空气 Open-Meteo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绿地 OSM Overpass · 照片 Mapillary + Wikimedia Commons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所有客户端注入式 http.Client → 测试用 MockClient 提供罐装响应，CI 不触网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应用跑真实 API，测试全程不触网——真实可用与可重复测试兼得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六个真实 API 均通过真实 Dart 客户端线上联调验证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5. 关键技术（4）：Firebase 鉴权 + 按用户云同步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邮箱 / 密码登录；数据命名空间 /users/{uid}/runs 与 /users/{uid}/favorites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Firestore 安全规则：仅已登录的本人可读写自己的子树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allow read, write: if request.auth != null &amp;&amp; request.auth.uid == userId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线上端到端验证：注册 → 写入跑步 → 读回成功；跨用户读取被拒（HTTP 403）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未配置 Firebase 时自动回退到本地存储 → 应用始终可运行（测试 / 离线）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5. 关键技术（5）：可替换后端 + 多设备自适应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仓库接口抽象：历史 / 收藏依赖抽象接口，不依赖具体实现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本地 shared_preferences ↔ Firebase 只改两个工厂函数，UI 一行不动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单一断点 isWide(720dp) 驱动自适应布局：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候选列表 → 多列网格；路线详情 → 地图 + 详情左右分栏（平板 / 横屏）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动效克制：仅在高价值时刻——评分仪表盘出现时扫弧到目标值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6. 系统测试与验证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926080" cy="2011680"/>
          </a:xfrm>
          <a:prstGeom prst="round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127</a:t>
            </a:r>
          </a:p>
          <a:p>
            <a:pPr algn="ctr"/>
            <a:r>
              <a:rPr sz="1400" b="0">
                <a:solidFill>
                  <a:srgbClr val="EAF7F2"/>
                </a:solidFill>
                <a:latin typeface="Segoe UI"/>
                <a:ea typeface="微软雅黑"/>
                <a:cs typeface="微软雅黑"/>
              </a:rPr>
              <a:t>项自动化测试全部通过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73152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6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flutter analyze 静态分析零问题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6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mock-first：http MockClient · fake_cloud_firestore · firebase_auth_mocks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6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subagent 驱动 TDD：实现 → 规格评审 + 代码质量评审 → 修复 → PR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6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端到端流程测试（首页 → 生成 → 候选）+ 多设备布局 + 溢出回归守卫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6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16 个已评审 Pull Request 增量交付，真实 Git 留痕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7. 系统实测截图（1）：设计与比较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554480"/>
            <a:ext cx="2468880" cy="53118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867" y="6939464"/>
            <a:ext cx="2468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首页 · 设计你的跑步</a:t>
            </a:r>
          </a:p>
        </p:txBody>
      </p:sp>
      <p:pic>
        <p:nvPicPr>
          <p:cNvPr id="8" name="Picture 7" descr="wt_candid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227" y="1554480"/>
            <a:ext cx="2468880" cy="5311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1227" y="6939464"/>
            <a:ext cx="2468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候选 · 评分排名</a:t>
            </a:r>
          </a:p>
        </p:txBody>
      </p:sp>
      <p:pic>
        <p:nvPicPr>
          <p:cNvPr id="10" name="Picture 9" descr="wt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7" y="1554480"/>
            <a:ext cx="2468880" cy="53118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1587" y="6939464"/>
            <a:ext cx="2468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路线详情</a:t>
            </a:r>
          </a:p>
        </p:txBody>
      </p:sp>
      <p:pic>
        <p:nvPicPr>
          <p:cNvPr id="12" name="Picture 11" descr="wt_sign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947" y="1554480"/>
            <a:ext cx="2468880" cy="53118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81947" y="6939464"/>
            <a:ext cx="2468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账户登录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7. 系统实测截图（2）：跑步与同步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t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554480"/>
            <a:ext cx="2468880" cy="53118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867" y="6939464"/>
            <a:ext cx="2468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实时追踪</a:t>
            </a:r>
          </a:p>
        </p:txBody>
      </p:sp>
      <p:pic>
        <p:nvPicPr>
          <p:cNvPr id="8" name="Picture 7" descr="wt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227" y="1554480"/>
            <a:ext cx="2468880" cy="53118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1227" y="6939464"/>
            <a:ext cx="2468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跑后总结</a:t>
            </a:r>
          </a:p>
        </p:txBody>
      </p:sp>
      <p:pic>
        <p:nvPicPr>
          <p:cNvPr id="10" name="Picture 9" descr="wt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587" y="1554480"/>
            <a:ext cx="2468880" cy="53118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1587" y="6939464"/>
            <a:ext cx="2468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历史（云同步）</a:t>
            </a:r>
          </a:p>
        </p:txBody>
      </p:sp>
      <p:pic>
        <p:nvPicPr>
          <p:cNvPr id="12" name="Picture 11" descr="wt_favouri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947" y="1554480"/>
            <a:ext cx="2468880" cy="53118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81947" y="6939464"/>
            <a:ext cx="2468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收藏路线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8. 成果与不足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✓ 主要成果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完整交付 M1–M6 全部里程碑 + 一次系统级视觉改版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真实多源 API 路线生成 + 可解释三轴评分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Firebase 邮箱登录 + 按用户云同步，线上端到端验证通过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127 项测试 / analyze 干净 / 16 个评审 PR / 专业一致的 UI 设计系统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△ 不足与限制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容器无 KVM 无法跑安卓模拟器，视觉走查走 Web 构建 + 无头 Chrome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–  </a:t>
            </a:r>
            <a:r>
              <a:rPr sz="16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评分权重为线性加权，尚未从历史中学习个性化偏好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8. 未来工作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① 个性化：从历史跑步学习偏好权重，自动调参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② 社交：分享 / 对比路线、好友榜、路线挑战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③ 离线：地图瓦片与路线缓存，弱网可用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④ 国际化：多语言（含意大利语），适配本地空气 / 地图数据源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⑤ 体验：跑步中语音播报、Apple Health / Google Fit 同步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感 谢 聆 听  ·  欢 迎 提 问</a:t>
            </a:r>
          </a:p>
          <a:p>
            <a:pPr algn="ctr">
              <a:spcBef>
                <a:spcPts val="1000"/>
              </a:spcBef>
            </a:pPr>
            <a:r>
              <a:rPr sz="2800" b="1">
                <a:solidFill>
                  <a:srgbClr val="F59E0B"/>
                </a:solidFill>
                <a:latin typeface="Segoe UI"/>
                <a:ea typeface="微软雅黑"/>
                <a:cs typeface="微软雅黑"/>
              </a:rPr>
              <a:t>Q &amp; A</a:t>
            </a:r>
          </a:p>
          <a:p>
            <a:pPr algn="ctr">
              <a:spcBef>
                <a:spcPts val="1800"/>
              </a:spcBef>
            </a:pPr>
            <a:r>
              <a:rPr sz="1400" b="0">
                <a:solidFill>
                  <a:srgbClr val="D9F2E8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2026 年 5 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0F1F1A"/>
                </a:solidFill>
                <a:latin typeface="Segoe UI"/>
                <a:ea typeface="微软雅黑"/>
                <a:cs typeface="微软雅黑"/>
              </a:rPr>
              <a:t>5. 关键技术（1）：路线生成流程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5B6B66"/>
                </a:solidFill>
                <a:latin typeface="Segoe UI"/>
                <a:ea typeface="微软雅黑"/>
                <a:cs typeface="微软雅黑"/>
              </a:rPr>
              <a:t>FreshLoop 智能跑步路线生成器  ·  CHENWEI PAN  ·  移动应用设计与实现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DD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ute-ge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762" y="1371600"/>
            <a:ext cx="4746171" cy="498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